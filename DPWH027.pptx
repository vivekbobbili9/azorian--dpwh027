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embeddedFontLst>
    <p:embeddedFont>
      <p:font typeface="Quicksand" charset="1" panose="00000000000000000000"/>
      <p:regular r:id="rId18"/>
    </p:embeddedFont>
    <p:embeddedFont>
      <p:font typeface="Arial" charset="1" panose="020B0604020202020204"/>
      <p:regular r:id="rId19"/>
    </p:embeddedFont>
    <p:embeddedFont>
      <p:font typeface="Arial Bold" charset="1" panose="020B0704020202020204"/>
      <p:regular r:id="rId20"/>
    </p:embeddedFont>
    <p:embeddedFont>
      <p:font typeface="Glacial Indifference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4.sv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4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6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75833" y="3920833"/>
            <a:ext cx="8116167" cy="2937167"/>
          </a:xfrm>
          <a:custGeom>
            <a:avLst/>
            <a:gdLst/>
            <a:ahLst/>
            <a:cxnLst/>
            <a:rect r="r" b="b" t="t" l="l"/>
            <a:pathLst>
              <a:path h="2937167" w="8116167">
                <a:moveTo>
                  <a:pt x="0" y="0"/>
                </a:moveTo>
                <a:lnTo>
                  <a:pt x="8116167" y="0"/>
                </a:lnTo>
                <a:lnTo>
                  <a:pt x="8116167" y="2937167"/>
                </a:lnTo>
                <a:lnTo>
                  <a:pt x="0" y="2937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75833" y="3920833"/>
            <a:ext cx="8116167" cy="2937167"/>
            <a:chOff x="0" y="0"/>
            <a:chExt cx="10821556" cy="3916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1543" cy="3916172"/>
            </a:xfrm>
            <a:custGeom>
              <a:avLst/>
              <a:gdLst/>
              <a:ahLst/>
              <a:cxnLst/>
              <a:rect r="r" b="b" t="t" l="l"/>
              <a:pathLst>
                <a:path h="3916172" w="10821543">
                  <a:moveTo>
                    <a:pt x="0" y="0"/>
                  </a:moveTo>
                  <a:lnTo>
                    <a:pt x="10821543" y="0"/>
                  </a:lnTo>
                  <a:lnTo>
                    <a:pt x="10821543" y="3916172"/>
                  </a:lnTo>
                  <a:lnTo>
                    <a:pt x="0" y="3916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6064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82266" y="4821831"/>
            <a:ext cx="1869900" cy="1155602"/>
          </a:xfrm>
          <a:custGeom>
            <a:avLst/>
            <a:gdLst/>
            <a:ahLst/>
            <a:cxnLst/>
            <a:rect r="r" b="b" t="t" l="l"/>
            <a:pathLst>
              <a:path h="1155602" w="1869900">
                <a:moveTo>
                  <a:pt x="0" y="0"/>
                </a:moveTo>
                <a:lnTo>
                  <a:pt x="1869900" y="0"/>
                </a:lnTo>
                <a:lnTo>
                  <a:pt x="1869900" y="1155602"/>
                </a:lnTo>
                <a:lnTo>
                  <a:pt x="0" y="11556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2266" y="4821831"/>
            <a:ext cx="1869900" cy="1155602"/>
            <a:chOff x="0" y="0"/>
            <a:chExt cx="2493200" cy="1540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3264" cy="1540764"/>
            </a:xfrm>
            <a:custGeom>
              <a:avLst/>
              <a:gdLst/>
              <a:ahLst/>
              <a:cxnLst/>
              <a:rect r="r" b="b" t="t" l="l"/>
              <a:pathLst>
                <a:path h="1540764" w="2493264">
                  <a:moveTo>
                    <a:pt x="0" y="0"/>
                  </a:moveTo>
                  <a:lnTo>
                    <a:pt x="2493264" y="0"/>
                  </a:lnTo>
                  <a:lnTo>
                    <a:pt x="2493264" y="1540764"/>
                  </a:lnTo>
                  <a:lnTo>
                    <a:pt x="0" y="154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2" b="-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0"/>
            <a:ext cx="12192000" cy="4135584"/>
          </a:xfrm>
          <a:custGeom>
            <a:avLst/>
            <a:gdLst/>
            <a:ahLst/>
            <a:cxnLst/>
            <a:rect r="r" b="b" t="t" l="l"/>
            <a:pathLst>
              <a:path h="4135584" w="12192000">
                <a:moveTo>
                  <a:pt x="0" y="0"/>
                </a:moveTo>
                <a:lnTo>
                  <a:pt x="12192000" y="0"/>
                </a:lnTo>
                <a:lnTo>
                  <a:pt x="12192000" y="4135584"/>
                </a:lnTo>
                <a:lnTo>
                  <a:pt x="0" y="4135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14750" y="6084884"/>
            <a:ext cx="7410450" cy="601666"/>
          </a:xfrm>
          <a:custGeom>
            <a:avLst/>
            <a:gdLst/>
            <a:ahLst/>
            <a:cxnLst/>
            <a:rect r="r" b="b" t="t" l="l"/>
            <a:pathLst>
              <a:path h="601666" w="7410450">
                <a:moveTo>
                  <a:pt x="0" y="0"/>
                </a:moveTo>
                <a:lnTo>
                  <a:pt x="7410450" y="0"/>
                </a:lnTo>
                <a:lnTo>
                  <a:pt x="7410450" y="601666"/>
                </a:lnTo>
                <a:lnTo>
                  <a:pt x="0" y="6016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14750" y="4419600"/>
            <a:ext cx="7391400" cy="1499130"/>
          </a:xfrm>
          <a:custGeom>
            <a:avLst/>
            <a:gdLst/>
            <a:ahLst/>
            <a:cxnLst/>
            <a:rect r="r" b="b" t="t" l="l"/>
            <a:pathLst>
              <a:path h="1499130" w="7391400">
                <a:moveTo>
                  <a:pt x="0" y="0"/>
                </a:moveTo>
                <a:lnTo>
                  <a:pt x="7391400" y="0"/>
                </a:lnTo>
                <a:lnTo>
                  <a:pt x="7391400" y="1499130"/>
                </a:lnTo>
                <a:lnTo>
                  <a:pt x="0" y="14991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0"/>
            <a:ext cx="12192000" cy="4135584"/>
            <a:chOff x="0" y="0"/>
            <a:chExt cx="16256000" cy="5514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56000" cy="5514086"/>
            </a:xfrm>
            <a:custGeom>
              <a:avLst/>
              <a:gdLst/>
              <a:ahLst/>
              <a:cxnLst/>
              <a:rect r="r" b="b" t="t" l="l"/>
              <a:pathLst>
                <a:path h="5514086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5514086"/>
                  </a:lnTo>
                  <a:lnTo>
                    <a:pt x="0" y="5514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702528" y="4513580"/>
            <a:ext cx="6862777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0F0F19"/>
                </a:solidFill>
                <a:latin typeface="Quicksand"/>
                <a:ea typeface="Quicksand"/>
                <a:cs typeface="Quicksand"/>
                <a:sym typeface="Quicksand"/>
              </a:rPr>
              <a:t>AZORIAN DPWH027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0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646124"/>
            <a:ext cx="6122591" cy="105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1"/>
              </a:lnSpc>
            </a:pPr>
            <a:r>
              <a:rPr lang="en-US" sz="620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Thermal Sentinel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525" y="2246552"/>
            <a:ext cx="10614146" cy="36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07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Vision:</a:t>
            </a: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eliminate "Energy Vampires" in the global supply chain, ensuring every refrigerated container (reefer) moving through a DP World terminal operates at peak thermal efficiency.</a:t>
            </a:r>
          </a:p>
          <a:p>
            <a:pPr algn="l">
              <a:lnSpc>
                <a:spcPts val="2909"/>
              </a:lnSpc>
            </a:pPr>
          </a:p>
          <a:p>
            <a:pPr algn="l">
              <a:lnSpc>
                <a:spcPts val="2909"/>
              </a:lnSpc>
            </a:pPr>
            <a:r>
              <a:rPr lang="en-US" sz="207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Roles:</a:t>
            </a: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Architect: Developing the </a:t>
            </a: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YOLOv8 and Anomaly Detection pipeline.</a:t>
            </a:r>
          </a:p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Full-Stack Developer: Building the Streamlit control center and FastAPI integration.</a:t>
            </a:r>
          </a:p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Logistics Strategist: Aligning the solution with EU CBAM and DP World Ocean Strategy 2024–2030.</a:t>
            </a:r>
          </a:p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Hardware/Simulation Lead: Crafting the physical "Smart Gate" demo.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2190952" cy="6857409"/>
          </a:xfrm>
          <a:custGeom>
            <a:avLst/>
            <a:gdLst/>
            <a:ahLst/>
            <a:cxnLst/>
            <a:rect r="r" b="b" t="t" l="l"/>
            <a:pathLst>
              <a:path h="6857409" w="12190952">
                <a:moveTo>
                  <a:pt x="0" y="0"/>
                </a:moveTo>
                <a:lnTo>
                  <a:pt x="12190952" y="0"/>
                </a:lnTo>
                <a:lnTo>
                  <a:pt x="12190952" y="6857409"/>
                </a:lnTo>
                <a:lnTo>
                  <a:pt x="0" y="6857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2190952" cy="6857409"/>
            <a:chOff x="0" y="0"/>
            <a:chExt cx="16254603" cy="9143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54603" cy="9143238"/>
            </a:xfrm>
            <a:custGeom>
              <a:avLst/>
              <a:gdLst/>
              <a:ahLst/>
              <a:cxnLst/>
              <a:rect r="r" b="b" t="t" l="l"/>
              <a:pathLst>
                <a:path h="9143238" w="16254603">
                  <a:moveTo>
                    <a:pt x="0" y="0"/>
                  </a:moveTo>
                  <a:lnTo>
                    <a:pt x="16254603" y="0"/>
                  </a:lnTo>
                  <a:lnTo>
                    <a:pt x="16254603" y="9143238"/>
                  </a:lnTo>
                  <a:lnTo>
                    <a:pt x="0" y="9143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" t="-8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24170" y="1449391"/>
            <a:ext cx="10138391" cy="4837109"/>
          </a:xfrm>
          <a:custGeom>
            <a:avLst/>
            <a:gdLst/>
            <a:ahLst/>
            <a:cxnLst/>
            <a:rect r="r" b="b" t="t" l="l"/>
            <a:pathLst>
              <a:path h="4837109" w="10138391">
                <a:moveTo>
                  <a:pt x="0" y="0"/>
                </a:moveTo>
                <a:lnTo>
                  <a:pt x="10138391" y="0"/>
                </a:lnTo>
                <a:lnTo>
                  <a:pt x="10138391" y="4837109"/>
                </a:lnTo>
                <a:lnTo>
                  <a:pt x="0" y="4837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0667" y="308410"/>
            <a:ext cx="11351914" cy="920944"/>
          </a:xfrm>
          <a:custGeom>
            <a:avLst/>
            <a:gdLst/>
            <a:ahLst/>
            <a:cxnLst/>
            <a:rect r="r" b="b" t="t" l="l"/>
            <a:pathLst>
              <a:path h="920944" w="11351914">
                <a:moveTo>
                  <a:pt x="0" y="0"/>
                </a:moveTo>
                <a:lnTo>
                  <a:pt x="11351914" y="0"/>
                </a:lnTo>
                <a:lnTo>
                  <a:pt x="11351914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4170" y="566089"/>
            <a:ext cx="5229887" cy="66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2"/>
              </a:lnSpc>
            </a:pPr>
            <a:r>
              <a:rPr lang="en-US" sz="388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838096"/>
            <a:ext cx="10820400" cy="412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83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Invisible Leak:</a:t>
            </a:r>
            <a:r>
              <a:rPr lang="en-US" sz="18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Refrigerated containers (Reefers) are the most energy-intensive assets in a port. A single worn-out door gasket or a microscopic structural fissure causes "thermal bypass," forcing cooling units to consume up to 40% more electricity to maintain internal temperatures.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83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Regulatory &amp; Financial Pressure:</a:t>
            </a:r>
            <a:r>
              <a:rPr lang="en-US" sz="18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EU CBAM (2026): Importers will soon pay heavy taxes on the "embedded carbon" of their cargo. Inefficient reefers directly inflate these costs.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83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Maintenance Blind Spots: </a:t>
            </a:r>
            <a:r>
              <a:rPr lang="en-US" sz="18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 inspections are slow, subjective, and physically impossible to perform on every unit in a high-volume terminal like Jebel Ali or London Gateway.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83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Target:</a:t>
            </a:r>
            <a:r>
              <a:rPr lang="en-US" sz="18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DP World Terminal Operators and "Blue-Chip" shipping partners looking to hit Scope 3</a:t>
            </a:r>
          </a:p>
          <a:p>
            <a:pPr algn="l">
              <a:lnSpc>
                <a:spcPts val="2567"/>
              </a:lnSpc>
            </a:pPr>
            <a:r>
              <a:rPr lang="en-US" sz="18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emissions targets.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0667" y="308410"/>
            <a:ext cx="11714817" cy="1255728"/>
          </a:xfrm>
          <a:custGeom>
            <a:avLst/>
            <a:gdLst/>
            <a:ahLst/>
            <a:cxnLst/>
            <a:rect r="r" b="b" t="t" l="l"/>
            <a:pathLst>
              <a:path h="1255728" w="11714817">
                <a:moveTo>
                  <a:pt x="0" y="0"/>
                </a:moveTo>
                <a:lnTo>
                  <a:pt x="11714817" y="0"/>
                </a:lnTo>
                <a:lnTo>
                  <a:pt x="11714817" y="1255728"/>
                </a:lnTo>
                <a:lnTo>
                  <a:pt x="0" y="1255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99" y="583272"/>
            <a:ext cx="10204896" cy="62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SOLUTION/SOLUTION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916" y="1698343"/>
            <a:ext cx="9926268" cy="486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b="true" sz="1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"Smart Gate" Audit: We pr</a:t>
            </a:r>
            <a:r>
              <a:rPr lang="en-US" b="true" sz="1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opose an automated thermal imaging corridor integrated into DP World’s existing "Smart Gates".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b="true" sz="1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Capture:</a:t>
            </a: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truck passes, long-wave infrared (LWIR) 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sensors capture a high-resolution thermal signature of the container.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b="true" sz="1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Computer Vision Filtering:</a:t>
            </a: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Machine Learning (YOLOv8) 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isolates the container from the truck and identifies key "Leak Zones" 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as door seals, T-bar floors, and cooling unit vents.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b="true" sz="1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Real-Time Analytics:</a:t>
            </a: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compares the thermal signature 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against a "Digital Twin" of a perfect reefer. Any temperature delta (ΔT)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exceeding 5°C at the seals triggers an alert.</a:t>
            </a:r>
          </a:p>
          <a:p>
            <a:pPr algn="l">
              <a:lnSpc>
                <a:spcPts val="256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414202" y="2768889"/>
            <a:ext cx="4546636" cy="2592982"/>
            <a:chOff x="0" y="0"/>
            <a:chExt cx="16033445" cy="914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89" r="0" b="-18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0667" y="308410"/>
            <a:ext cx="11714817" cy="1255728"/>
          </a:xfrm>
          <a:custGeom>
            <a:avLst/>
            <a:gdLst/>
            <a:ahLst/>
            <a:cxnLst/>
            <a:rect r="r" b="b" t="t" l="l"/>
            <a:pathLst>
              <a:path h="1255728" w="11714817">
                <a:moveTo>
                  <a:pt x="0" y="0"/>
                </a:moveTo>
                <a:lnTo>
                  <a:pt x="11714817" y="0"/>
                </a:lnTo>
                <a:lnTo>
                  <a:pt x="11714817" y="1255728"/>
                </a:lnTo>
                <a:lnTo>
                  <a:pt x="0" y="1255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0474" y="1709823"/>
            <a:ext cx="10200605" cy="498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b="true" sz="190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Autonom</a:t>
            </a:r>
            <a:r>
              <a:rPr lang="en-US" b="true" sz="190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ous Maintenance Triggers:</a:t>
            </a: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solution doesn't just display data; it acts. The "Thermal Sentinel" API pushes a repair ticket directly to DP World’s CARGOES ZMS (Zone Management System).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b="true" sz="190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Secondary Safety Feature (The Firewall):</a:t>
            </a: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scanning dry containers for internal "hot spots," the system 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thermal runaway in Lithium-ion battery shipments before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ignite, preventing catastrophic port fires and protecting marine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life from  chemical runoff.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b="true" sz="190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Customer Value: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Shippers receive a "Green Certificate" proving their 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cargo was transported in a thermally optimized vessel, providing a 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competitive advantage in the European market.</a:t>
            </a:r>
          </a:p>
          <a:p>
            <a:pPr algn="l">
              <a:lnSpc>
                <a:spcPts val="266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694335" y="2885126"/>
            <a:ext cx="4234094" cy="2360507"/>
          </a:xfrm>
          <a:custGeom>
            <a:avLst/>
            <a:gdLst/>
            <a:ahLst/>
            <a:cxnLst/>
            <a:rect r="r" b="b" t="t" l="l"/>
            <a:pathLst>
              <a:path h="2360507" w="4234094">
                <a:moveTo>
                  <a:pt x="0" y="0"/>
                </a:moveTo>
                <a:lnTo>
                  <a:pt x="4234094" y="0"/>
                </a:lnTo>
                <a:lnTo>
                  <a:pt x="4234094" y="2360507"/>
                </a:lnTo>
                <a:lnTo>
                  <a:pt x="0" y="23605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474" y="590550"/>
            <a:ext cx="10080411" cy="62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5"/>
              </a:lnSpc>
            </a:pPr>
            <a:r>
              <a:rPr lang="en-US" sz="3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SOLUTION/SOLUTION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9333" y="-146228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730" y="213160"/>
            <a:ext cx="5571830" cy="79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sz="466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TECHNOLOGY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730" y="1313413"/>
            <a:ext cx="12025084" cy="531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60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Computer Vision &amp; Machine Learning (The "Brain")</a:t>
            </a:r>
          </a:p>
          <a:p>
            <a:pPr algn="l">
              <a:lnSpc>
                <a:spcPts val="2241"/>
              </a:lnSpc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Python: The core programming language for the entire project.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Ultralytics </a:t>
            </a: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YOLOv8: The AI object detection model (used to instantly identify the shipping container doors in a video feed).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OpenCV (cv2): The computer vision library. You will use it to turn your normal 1080p webcam video into a simulated thermal       "heatmap" and to calculate the mathematical threshold of "hot pixels" (the leak).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*NumPy: Used for the fast mathematical array calculations on the video frames.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The Backend Server (The "Engine")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FastAPI: A lightning-fast modern Python framework used to create the API endpoint that receives the leak warning from the camera.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Uvicorn: The web server that runs FastAPI.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SQLite: A lightweight database (built completely into Python) to keep a history log of every truck that passes the gate, so your dashboard has data to pull from.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The Frontend Dashboard (The "Face")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Streamlit: An amazing Python library that lets you build incredibly professional, dark-mode web dashboards with charts 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and metrics without needing to write a single line of HTML, CSS, or React. 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  Pandas: Used strictly to format the SQLite database history logs into beautiful tables on the Streamlit dashboard.</a:t>
            </a:r>
          </a:p>
          <a:p>
            <a:pPr algn="l">
              <a:lnSpc>
                <a:spcPts val="22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932691"/>
            <a:ext cx="5929084" cy="2966818"/>
            <a:chOff x="0" y="0"/>
            <a:chExt cx="18273969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74019" cy="9144000"/>
            </a:xfrm>
            <a:custGeom>
              <a:avLst/>
              <a:gdLst/>
              <a:ahLst/>
              <a:cxnLst/>
              <a:rect r="r" b="b" t="t" l="l"/>
              <a:pathLst>
                <a:path h="9144000" w="18274019">
                  <a:moveTo>
                    <a:pt x="0" y="0"/>
                  </a:moveTo>
                  <a:lnTo>
                    <a:pt x="18274019" y="0"/>
                  </a:lnTo>
                  <a:lnTo>
                    <a:pt x="18274019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3" t="0" r="-163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79458" y="3915881"/>
            <a:ext cx="5929084" cy="2795892"/>
          </a:xfrm>
          <a:custGeom>
            <a:avLst/>
            <a:gdLst/>
            <a:ahLst/>
            <a:cxnLst/>
            <a:rect r="r" b="b" t="t" l="l"/>
            <a:pathLst>
              <a:path h="2795892" w="5929084">
                <a:moveTo>
                  <a:pt x="0" y="0"/>
                </a:moveTo>
                <a:lnTo>
                  <a:pt x="5929084" y="0"/>
                </a:lnTo>
                <a:lnTo>
                  <a:pt x="5929084" y="2795891"/>
                </a:lnTo>
                <a:lnTo>
                  <a:pt x="0" y="27958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088" r="0" b="-208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16" y="24104"/>
            <a:ext cx="7519001" cy="90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3"/>
              </a:lnSpc>
            </a:pPr>
            <a:r>
              <a:rPr lang="en-US" sz="5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</a:t>
            </a:r>
            <a:r>
              <a:rPr lang="en-US" sz="5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08855" y="1172204"/>
            <a:ext cx="5883145" cy="230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3"/>
              </a:lnSpc>
              <a:spcBef>
                <a:spcPct val="0"/>
              </a:spcBef>
            </a:pPr>
            <a:r>
              <a:rPr lang="en-US" b="true" sz="165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YOLOv8-Driven Thermal Signature Analysis</a:t>
            </a:r>
          </a:p>
          <a:p>
            <a:pPr algn="l">
              <a:lnSpc>
                <a:spcPts val="2313"/>
              </a:lnSpc>
              <a:spcBef>
                <a:spcPct val="0"/>
              </a:spcBef>
            </a:pPr>
            <a:r>
              <a:rPr lang="en-US" b="true" sz="165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Autonomous Edge Processing: The prototype utilizes YOLOv8 to instantly isolate refrigerated containers from transport vehicles in a live video feed.</a:t>
            </a:r>
          </a:p>
          <a:p>
            <a:pPr algn="l">
              <a:lnSpc>
                <a:spcPts val="2313"/>
              </a:lnSpc>
              <a:spcBef>
                <a:spcPct val="0"/>
              </a:spcBef>
            </a:pPr>
            <a:r>
              <a:rPr lang="en-US" b="true" sz="165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Leak Zone Identification: The computer vision model identifies high-risk "Energy Vampire" zones, specifically focusing on door seals, T-bar floors, and cooling unit vents.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0667" y="4083964"/>
            <a:ext cx="5165745" cy="249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Thermal Mapping &amp; Thresholds: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Converts standard video feeds into a simulated high-resolution LWIR (Long-Wave Infrared) signature.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Calculates "hot pixel" mathematical thresholds to detect microscopic structural fissures.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Digital Twin Comparison: The system live-compares the current thermal signature against a "Digital Twin" of a baseline efficient reefer to determine efficiency loss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1098092"/>
            <a:ext cx="5611657" cy="2770429"/>
            <a:chOff x="0" y="0"/>
            <a:chExt cx="14837487" cy="7325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7538" cy="7325147"/>
            </a:xfrm>
            <a:custGeom>
              <a:avLst/>
              <a:gdLst/>
              <a:ahLst/>
              <a:cxnLst/>
              <a:rect r="r" b="b" t="t" l="l"/>
              <a:pathLst>
                <a:path h="7325147" w="14837538">
                  <a:moveTo>
                    <a:pt x="0" y="0"/>
                  </a:moveTo>
                  <a:lnTo>
                    <a:pt x="14837538" y="0"/>
                  </a:lnTo>
                  <a:lnTo>
                    <a:pt x="14837538" y="7325147"/>
                  </a:lnTo>
                  <a:lnTo>
                    <a:pt x="0" y="7325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307" t="0" r="-2930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00141" y="4054259"/>
            <a:ext cx="5301772" cy="2657513"/>
          </a:xfrm>
          <a:custGeom>
            <a:avLst/>
            <a:gdLst/>
            <a:ahLst/>
            <a:cxnLst/>
            <a:rect r="r" b="b" t="t" l="l"/>
            <a:pathLst>
              <a:path h="2657513" w="5301772">
                <a:moveTo>
                  <a:pt x="0" y="0"/>
                </a:moveTo>
                <a:lnTo>
                  <a:pt x="5301772" y="0"/>
                </a:lnTo>
                <a:lnTo>
                  <a:pt x="5301772" y="2657513"/>
                </a:lnTo>
                <a:lnTo>
                  <a:pt x="0" y="26575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9928" y="3767"/>
            <a:ext cx="7519001" cy="90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3"/>
              </a:lnSpc>
            </a:pPr>
            <a:r>
              <a:rPr lang="en-US" sz="5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</a:t>
            </a:r>
            <a:r>
              <a:rPr lang="en-US" sz="5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37532" y="1296174"/>
            <a:ext cx="6085552" cy="24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Streamlit Dashboard &amp; Automated Maintenance Workflow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Comprehensive Telemetry Dashboard: A dark-mode Streamlit frontend provides terminal operators with real-time visibility into port-wide thermal health.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Metrics &amp; Severity Matrix: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$\Delta T$ (Temperature Delta): Tracks the difference between leak temperature and ambient temperature, triggering alerts when the delta exceeds $5^{\circ}\text{C}$.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Thermal Escape Area:</a:t>
            </a: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Quantifies physical energy loss (e.g., $1.9\text{ m}^2$ "Significant Buckle" alert).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343" y="4006634"/>
            <a:ext cx="5614230" cy="27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Data-Driven Maintenance (Logistics Engine):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Scan History Logs: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FastAPI backend and SQLite database maintain a permanent audit trail of every container passing the "Smart Gate".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Ticketing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Triggers autonomous repair tickets directly to the CARGOES ZMS when critical insulation health (e.g., $&lt;45\%$) is detected.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Sustainability Tracking: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Calculates detection rates and insulation health to provide the "Green Audit Trail" required for EU CBAM (2026) compliance.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9333" y="-213627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0667" y="194110"/>
            <a:ext cx="5781208" cy="84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7"/>
              </a:lnSpc>
            </a:pPr>
            <a:r>
              <a:rPr lang="en-US" sz="48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1032" y="1238198"/>
            <a:ext cx="11261688" cy="546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Capturing High-Growth Corridors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</a:t>
            </a: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rge: Global reefer market scaling to $900B+ by 2030.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Play: Securing the India-Africa-Europe corridors for high-value Pharma and Food exports.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Moat: High "Perishability Risk" in these regions makes Thermal Shield a must-have reliability standard, not an option.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174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Monetizing the "Sustainability Gap"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Demand: 81% of shippers prioritize Green Logistics but lack granular efficiency data.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Pivot: Shifting from "Port Operator" to "Efficiency-as-a-Service" (EaaS).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Value: Providing the "Green Audit Trail" shippers need to justify Net-Zero compliance to stakeholders.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174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Regulatory Defense (EU CBAM 2026)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Hammer: EU Carbon Border Adjustment Mechanism (CBAM) now taxes "Embedded Carbon" in 2026.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Edge: Thermal Shield minimizes carbon-tax liabilities for importers.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Preferred Partner: Positions DP World as the #1 compliant gateway for carbon-conscious global trade.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174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First-Mover Advantage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Beyond the Visible: Moving from "Physical Damage" checks to "Invisible Energy Waste" detection.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Tech Barrier: Proprietary ML models trained on unique port-gate thermal signatures.</a:t>
            </a:r>
          </a:p>
          <a:p>
            <a:pPr algn="l" marL="377598" indent="-18879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sz="1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Lock-in: Creating a high-entry barrier that traditional logistics competitors cannot easily replicate.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0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6020" y="6548399"/>
            <a:ext cx="64818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170" y="561975"/>
            <a:ext cx="5182450" cy="86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9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4170" y="1698587"/>
            <a:ext cx="9634251" cy="74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</a:t>
            </a:r>
            <a:r>
              <a:rPr lang="en-US" sz="21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tment: Low-cost infrastructure using standard thermal sensor arrays combined with cloud-based software.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4170" y="2724539"/>
            <a:ext cx="2654728" cy="29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$2M</a:t>
            </a:r>
            <a:r>
              <a:rPr lang="en-US" sz="17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Saving Narrative: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00" y="3187652"/>
            <a:ext cx="10640933" cy="6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7594" indent="-193797" lvl="1">
              <a:lnSpc>
                <a:spcPts val="2513"/>
              </a:lnSpc>
              <a:spcBef>
                <a:spcPct val="0"/>
              </a:spcBef>
              <a:buFont typeface="Arial"/>
              <a:buChar char="•"/>
            </a:pPr>
            <a:r>
              <a:rPr lang="en-US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Recovery: By identifying the most inefficient 5% of refrigerated containers (reefers), companies can save around 720 kWh per long-haul journey, significantly reducing energy costs.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800" y="4248402"/>
            <a:ext cx="10640933" cy="6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7594" indent="-193797" lvl="1">
              <a:lnSpc>
                <a:spcPts val="2513"/>
              </a:lnSpc>
              <a:spcBef>
                <a:spcPct val="0"/>
              </a:spcBef>
              <a:buFont typeface="Arial"/>
              <a:buChar char="•"/>
            </a:pPr>
            <a:r>
              <a:rPr lang="en-US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Carbon Tax Mitigation:  </a:t>
            </a:r>
            <a:r>
              <a:rPr lang="en-US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Lowering “embedded carbon” emissions helps reduce exposure to carbon taxes like the EU’s CBAM, ultimately saving money for DP World’s clients.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" y="5309151"/>
            <a:ext cx="10640933" cy="6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7594" indent="-193797" lvl="1">
              <a:lnSpc>
                <a:spcPts val="2513"/>
              </a:lnSpc>
              <a:spcBef>
                <a:spcPct val="0"/>
              </a:spcBef>
              <a:buFont typeface="Arial"/>
              <a:buChar char="•"/>
            </a:pPr>
            <a:r>
              <a:rPr lang="en-US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Maintenance:   </a:t>
            </a:r>
            <a:r>
              <a:rPr lang="en-US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simple $10 gasket replacement today can prevent a $10,000 cargo spoilage loss, making early detection extremely cost-effective.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0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32450" y="6548399"/>
            <a:ext cx="129645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4246" y="495584"/>
            <a:ext cx="6857950" cy="84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4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INNOVATIVE ASPECTS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449" y="1837720"/>
            <a:ext cx="1014850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Non-Intrusive: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works without interrupting operations—thermal scans are performed while trucks move at speeds up to 20 km/h, ensuring zero downtime.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1449" y="3381375"/>
            <a:ext cx="10539956" cy="7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8016" indent="-239008" lvl="1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2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Scalable:  </a:t>
            </a:r>
            <a:r>
              <a:rPr lang="en-US" sz="22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can be rolled out across all 70+ DP World terminals through a simple software deployment, making expansion fast and cost-effective.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0667" y="4508993"/>
            <a:ext cx="9854156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Multi-Purpose:   A single machine learning model supports multiple use cases, including energy efficiency optimization, carbon emission reporting, and fire risk detection.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16" y="0"/>
            <a:ext cx="12025084" cy="6858000"/>
          </a:xfrm>
          <a:custGeom>
            <a:avLst/>
            <a:gdLst/>
            <a:ahLst/>
            <a:cxnLst/>
            <a:rect r="r" b="b" t="t" l="l"/>
            <a:pathLst>
              <a:path h="6858000" w="12025084">
                <a:moveTo>
                  <a:pt x="0" y="0"/>
                </a:moveTo>
                <a:lnTo>
                  <a:pt x="12025084" y="0"/>
                </a:lnTo>
                <a:lnTo>
                  <a:pt x="120250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16" y="0"/>
            <a:ext cx="12025084" cy="6858000"/>
            <a:chOff x="0" y="0"/>
            <a:chExt cx="16033445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349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033496">
                  <a:moveTo>
                    <a:pt x="0" y="0"/>
                  </a:moveTo>
                  <a:lnTo>
                    <a:pt x="16033496" y="0"/>
                  </a:lnTo>
                  <a:lnTo>
                    <a:pt x="1603349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37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667" y="308410"/>
            <a:ext cx="11562417" cy="920944"/>
          </a:xfrm>
          <a:custGeom>
            <a:avLst/>
            <a:gdLst/>
            <a:ahLst/>
            <a:cxnLst/>
            <a:rect r="r" b="b" t="t" l="l"/>
            <a:pathLst>
              <a:path h="920944" w="11562417">
                <a:moveTo>
                  <a:pt x="0" y="0"/>
                </a:moveTo>
                <a:lnTo>
                  <a:pt x="11562417" y="0"/>
                </a:lnTo>
                <a:lnTo>
                  <a:pt x="11562417" y="920944"/>
                </a:lnTo>
                <a:lnTo>
                  <a:pt x="0" y="92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1913" y="6566621"/>
            <a:ext cx="157667" cy="131988"/>
          </a:xfrm>
          <a:custGeom>
            <a:avLst/>
            <a:gdLst/>
            <a:ahLst/>
            <a:cxnLst/>
            <a:rect r="r" b="b" t="t" l="l"/>
            <a:pathLst>
              <a:path h="131988" w="157667">
                <a:moveTo>
                  <a:pt x="0" y="0"/>
                </a:moveTo>
                <a:lnTo>
                  <a:pt x="157667" y="0"/>
                </a:lnTo>
                <a:lnTo>
                  <a:pt x="157667" y="131988"/>
                </a:lnTo>
                <a:lnTo>
                  <a:pt x="0" y="13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40937" y="6548399"/>
            <a:ext cx="121015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0732" y="2176589"/>
            <a:ext cx="7574309" cy="204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3"/>
              </a:lnSpc>
            </a:pPr>
            <a:r>
              <a:rPr lang="en-US" sz="118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DAHFIH1BvHg</dc:identifier>
  <dcterms:modified xsi:type="dcterms:W3CDTF">2011-08-01T06:04:30Z</dcterms:modified>
  <cp:revision>1</cp:revision>
  <dc:title>AZORIAN_DPWH</dc:title>
</cp:coreProperties>
</file>